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11" Type="http://schemas.openxmlformats.org/officeDocument/2006/relationships/image" Target="../media/image12.png"/><Relationship Id="rId10" Type="http://schemas.openxmlformats.org/officeDocument/2006/relationships/image" Target="../media/image6.png"/><Relationship Id="rId9" Type="http://schemas.openxmlformats.org/officeDocument/2006/relationships/image" Target="../media/image9.png"/><Relationship Id="rId5" Type="http://schemas.openxmlformats.org/officeDocument/2006/relationships/image" Target="../media/image17.png"/><Relationship Id="rId6" Type="http://schemas.openxmlformats.org/officeDocument/2006/relationships/image" Target="../media/image3.png"/><Relationship Id="rId7" Type="http://schemas.openxmlformats.org/officeDocument/2006/relationships/image" Target="../media/image5.pn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19.png"/><Relationship Id="rId5" Type="http://schemas.openxmlformats.org/officeDocument/2006/relationships/image" Target="../media/image14.png"/><Relationship Id="rId6" Type="http://schemas.openxmlformats.org/officeDocument/2006/relationships/image" Target="../media/image18.png"/><Relationship Id="rId7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1795649" y="732262"/>
            <a:ext cx="5552703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971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4353"/>
              <a:buFont typeface="Calibri"/>
              <a:buNone/>
            </a:pPr>
            <a:r>
              <a:rPr b="1" i="0" lang="en-US" sz="4353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Trabalho Final</a:t>
            </a:r>
            <a:endParaRPr b="0" i="0" sz="435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795649" y="1475212"/>
            <a:ext cx="5552703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8"/>
              <a:buFont typeface="Calibri"/>
              <a:buNone/>
            </a:pPr>
            <a:r>
              <a:rPr b="1" i="0" lang="en-US" sz="1808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Especialização em IA e Machine Learning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795649" y="1896694"/>
            <a:ext cx="5552703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Módulo: Fundamentos de Machine Learning - Stella Sposito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3604859" y="2702151"/>
            <a:ext cx="1934254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Integrantes do Grupo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139664" y="3039694"/>
            <a:ext cx="864645" cy="274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73364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Rafael Silva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241685" y="3314002"/>
            <a:ext cx="660602" cy="274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73364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Deivison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3916784" y="3588311"/>
            <a:ext cx="1310404" cy="274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73364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Fabrício Londero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315913" y="3862620"/>
            <a:ext cx="512145" cy="274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73364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Jéssica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4010825" y="4136929"/>
            <a:ext cx="1122322" cy="274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73364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Sábinë Márígo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3261429" y="4702373"/>
            <a:ext cx="2621142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Análise Preditiva de Churn em Telecomunicações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" name="Google Shape;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/>
          <p:nvPr/>
        </p:nvSpPr>
        <p:spPr>
          <a:xfrm>
            <a:off x="428625" y="927822"/>
            <a:ext cx="3257550" cy="1320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92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62"/>
              <a:buFont typeface="Calibri"/>
              <a:buNone/>
            </a:pPr>
            <a:r>
              <a:rPr b="1" i="0" lang="en-US" sz="2862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Análise Preditiva de Churn</a:t>
            </a:r>
            <a:endParaRPr b="0" i="0" sz="286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28625" y="2419387"/>
            <a:ext cx="3257550" cy="480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9724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Abordagem Técnica: EDA, Processamento e Modelagem Avançada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" name="Google Shape;3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3351256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"/>
          <p:cNvSpPr/>
          <p:nvPr/>
        </p:nvSpPr>
        <p:spPr>
          <a:xfrm>
            <a:off x="664369" y="3328039"/>
            <a:ext cx="1920720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Análise Exploratória Profunda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" name="Google Shape;3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" y="3669153"/>
            <a:ext cx="16073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/>
          <p:nvPr/>
        </p:nvSpPr>
        <p:spPr>
          <a:xfrm>
            <a:off x="696516" y="3645936"/>
            <a:ext cx="2289516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Pipeline de Processamento Robusto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" name="Google Shape;39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8625" y="3987050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4"/>
          <p:cNvSpPr/>
          <p:nvPr/>
        </p:nvSpPr>
        <p:spPr>
          <a:xfrm>
            <a:off x="664369" y="3963832"/>
            <a:ext cx="2005971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Modelagem e Tuning Avançado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28625" y="4567479"/>
            <a:ext cx="3257550" cy="305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005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DATASET: 7.043 CLIENTES | 21 VARIÁVEIS | 26.5% CHURN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114800" y="0"/>
            <a:ext cx="5029200" cy="51435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617709" y="514350"/>
            <a:ext cx="4023354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" name="Google Shape;44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86347" y="1664494"/>
            <a:ext cx="2686050" cy="1814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0" name="Google Shape;5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212761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5"/>
          <p:cNvSpPr/>
          <p:nvPr/>
        </p:nvSpPr>
        <p:spPr>
          <a:xfrm>
            <a:off x="571500" y="428625"/>
            <a:ext cx="8001000" cy="83152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571500" y="1231571"/>
            <a:ext cx="8001000" cy="2857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571500" y="428625"/>
            <a:ext cx="7858125" cy="660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58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Contratos mensais e perfil demográfico revelam padrões claros de churn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571500" y="1517321"/>
            <a:ext cx="4543425" cy="1296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571500" y="1517321"/>
            <a:ext cx="28575" cy="1296591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714375" y="1660196"/>
            <a:ext cx="4257675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Taxa de Churn por Tipo de Contrato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714375" y="1960234"/>
            <a:ext cx="85725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Month-to-month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1678781" y="1942374"/>
            <a:ext cx="3186113" cy="17145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1678781" y="1942374"/>
            <a:ext cx="1360466" cy="17145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1678781" y="1942374"/>
            <a:ext cx="136046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42525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42.7%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714375" y="2203121"/>
            <a:ext cx="85725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One year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1678781" y="2185262"/>
            <a:ext cx="3186113" cy="17145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1678781" y="2185262"/>
            <a:ext cx="360006" cy="1714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1678781" y="2185262"/>
            <a:ext cx="36000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42525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11.3%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714375" y="2446009"/>
            <a:ext cx="85725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Two year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1678781" y="2428149"/>
            <a:ext cx="3186113" cy="17145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1678781" y="2428149"/>
            <a:ext cx="89185" cy="1714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1678781" y="2428149"/>
            <a:ext cx="8918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42525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2.8%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571500" y="3028224"/>
            <a:ext cx="4543425" cy="10537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571500" y="3028224"/>
            <a:ext cx="28575" cy="1053703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714375" y="3171099"/>
            <a:ext cx="4257675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Churn por Perfil Demográfico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714375" y="3471137"/>
            <a:ext cx="85725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Senior Citizen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1678781" y="3453278"/>
            <a:ext cx="3186113" cy="17145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1678781" y="3453278"/>
            <a:ext cx="1328598" cy="17145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1678781" y="3453278"/>
            <a:ext cx="132859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42525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41.7%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714375" y="3714024"/>
            <a:ext cx="85725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Non-Senior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1678781" y="3696165"/>
            <a:ext cx="3186113" cy="17145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1678781" y="3696165"/>
            <a:ext cx="751908" cy="1714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1678781" y="3696165"/>
            <a:ext cx="75190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42525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23.6%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571500" y="4296240"/>
            <a:ext cx="4543425" cy="8879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571500" y="4296240"/>
            <a:ext cx="28575" cy="887946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714375" y="4439115"/>
            <a:ext cx="945403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Fator Tenure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3851486" y="4439115"/>
            <a:ext cx="1120564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Correlação Inversa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714375" y="4721293"/>
            <a:ext cx="4257675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Clientes com </a:t>
            </a:r>
            <a:r>
              <a:rPr b="1" i="0" lang="en-US" sz="784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tenure &lt; 12 meses</a:t>
            </a:r>
            <a:r>
              <a:rPr b="0" i="0" lang="en-US" sz="834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apresentam risco crítico. A taxa de retenção estabiliza significativamente após o primeiro ano de contrato.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5543550" y="1517321"/>
            <a:ext cx="3028950" cy="1635919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5757863" y="1731634"/>
            <a:ext cx="2600325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Insight Crítico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5757863" y="1974521"/>
            <a:ext cx="2600325" cy="9644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A flexibilidade contratual é o maior preditor de risco: contratos mensais aumentam a probabilidade de churn em </a:t>
            </a:r>
            <a:r>
              <a:rPr b="1" i="0" lang="en-US" sz="885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15 vezes</a:t>
            </a:r>
            <a:r>
              <a:rPr b="0" i="0" lang="en-US" sz="942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 comparado a contratos de dois anos.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5543550" y="3367553"/>
            <a:ext cx="3028950" cy="1816633"/>
          </a:xfrm>
          <a:prstGeom prst="rect">
            <a:avLst/>
          </a:prstGeom>
          <a:solidFill>
            <a:srgbClr val="DDDDDD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" name="Google Shape;8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3550" y="3367553"/>
            <a:ext cx="3028950" cy="18166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5" name="Google Shape;9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64513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6"/>
          <p:cNvSpPr/>
          <p:nvPr/>
        </p:nvSpPr>
        <p:spPr>
          <a:xfrm>
            <a:off x="571500" y="428625"/>
            <a:ext cx="8001000" cy="83152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571500" y="1231571"/>
            <a:ext cx="8001000" cy="2857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571500" y="428625"/>
            <a:ext cx="7858125" cy="660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58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Pipeline de pré-processamento garante qualidade e compatibilidade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928688" y="1745921"/>
            <a:ext cx="7286625" cy="2857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571500" y="1460171"/>
            <a:ext cx="1440163" cy="135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571500" y="1460171"/>
            <a:ext cx="1440163" cy="28575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714375" y="1603046"/>
            <a:ext cx="285750" cy="28575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" name="Google Shape;10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6883" y="1681628"/>
            <a:ext cx="16073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6"/>
          <p:cNvSpPr/>
          <p:nvPr/>
        </p:nvSpPr>
        <p:spPr>
          <a:xfrm>
            <a:off x="714375" y="1995953"/>
            <a:ext cx="1154413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Limpeza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714375" y="2222767"/>
            <a:ext cx="1154413" cy="42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Tratamento de 11 nulos em TotalCharges (imputação).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2211688" y="1460171"/>
            <a:ext cx="1440163" cy="13254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2211688" y="1460171"/>
            <a:ext cx="1440163" cy="28575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2354563" y="1603046"/>
            <a:ext cx="285750" cy="28575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9" name="Google Shape;10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17071" y="1681628"/>
            <a:ext cx="16073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6"/>
          <p:cNvSpPr/>
          <p:nvPr/>
        </p:nvSpPr>
        <p:spPr>
          <a:xfrm>
            <a:off x="2354563" y="1995953"/>
            <a:ext cx="1154413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Encoding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2354563" y="2222767"/>
            <a:ext cx="1154413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One-Hot Encoding: 21 → 32 features.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3851877" y="1460171"/>
            <a:ext cx="1440163" cy="13254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3851877" y="1460171"/>
            <a:ext cx="1440163" cy="28575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3994752" y="1603046"/>
            <a:ext cx="285750" cy="28575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" name="Google Shape;11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57259" y="1681628"/>
            <a:ext cx="16073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6"/>
          <p:cNvSpPr/>
          <p:nvPr/>
        </p:nvSpPr>
        <p:spPr>
          <a:xfrm>
            <a:off x="3994752" y="1995953"/>
            <a:ext cx="1154413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Escala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3994752" y="2222767"/>
            <a:ext cx="1154413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StandardScaler para normalização (z-score).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5492065" y="1460171"/>
            <a:ext cx="1440163" cy="13254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5492065" y="1460171"/>
            <a:ext cx="1440163" cy="28575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5634940" y="1603046"/>
            <a:ext cx="285750" cy="28575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1" name="Google Shape;121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3521" y="1681628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6"/>
          <p:cNvSpPr/>
          <p:nvPr/>
        </p:nvSpPr>
        <p:spPr>
          <a:xfrm>
            <a:off x="5634940" y="1995953"/>
            <a:ext cx="1154413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Split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5634940" y="2222767"/>
            <a:ext cx="1154413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Divisão 80/20 estratificada por classe.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7132253" y="1460171"/>
            <a:ext cx="1440163" cy="13254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7132253" y="1460171"/>
            <a:ext cx="1440163" cy="28575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7275128" y="1603046"/>
            <a:ext cx="285750" cy="28575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7" name="Google Shape;127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53709" y="1681628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6"/>
          <p:cNvSpPr/>
          <p:nvPr/>
        </p:nvSpPr>
        <p:spPr>
          <a:xfrm>
            <a:off x="7275128" y="1995953"/>
            <a:ext cx="1154413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7275128" y="2222767"/>
            <a:ext cx="1154413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Codificação binária do Churn (0/1).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0" name="Google Shape;130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3107113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6"/>
          <p:cNvSpPr/>
          <p:nvPr/>
        </p:nvSpPr>
        <p:spPr>
          <a:xfrm>
            <a:off x="807244" y="3085681"/>
            <a:ext cx="4393406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Estratégia de Dados Ausentes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807244" y="3296422"/>
            <a:ext cx="4393406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Apenas 0.2% dos dados em TotalCharges eram nulos. A conversão para float e imputação pela mediana preservou a integridade do dataset sem introduzir viés significativo.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3" name="Google Shape;133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3975078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6"/>
          <p:cNvSpPr/>
          <p:nvPr/>
        </p:nvSpPr>
        <p:spPr>
          <a:xfrm>
            <a:off x="807244" y="3953647"/>
            <a:ext cx="4393406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Decisão sobre Balanceamento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807244" y="4164388"/>
            <a:ext cx="4393406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 desbalanceamento de classes (73.5% / 26.5%) foi mantido intencionalmente nesta fase para avaliar a performance real dos modelos em cenário natural, antes de aplicar técnicas sintéticas como SMOTE.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5486400" y="3085681"/>
            <a:ext cx="3086100" cy="162919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7" name="Google Shape;137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691615" y="3185917"/>
            <a:ext cx="2675669" cy="1428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3" name="Google Shape;14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7"/>
          <p:cNvSpPr/>
          <p:nvPr/>
        </p:nvSpPr>
        <p:spPr>
          <a:xfrm>
            <a:off x="571500" y="428625"/>
            <a:ext cx="8001000" cy="83152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571500" y="1231571"/>
            <a:ext cx="8001000" cy="2857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571500" y="428625"/>
            <a:ext cx="7858125" cy="660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58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Gradient Boosting lidera com ROC-AUC de 0,8358, seguido por Logistic Regression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571500" y="1445884"/>
            <a:ext cx="5095866" cy="32689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728663" y="1588759"/>
            <a:ext cx="1166106" cy="29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Modelo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1894768" y="1588759"/>
            <a:ext cx="597759" cy="29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ROC-AUC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2492527" y="1588759"/>
            <a:ext cx="515243" cy="29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PR-AUC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3007770" y="1588759"/>
            <a:ext cx="685102" cy="29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3692872" y="1588759"/>
            <a:ext cx="704357" cy="29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4397229" y="1588759"/>
            <a:ext cx="515829" cy="29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4913058" y="1588759"/>
            <a:ext cx="611432" cy="29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F1-Score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728663" y="1883439"/>
            <a:ext cx="1166106" cy="317897"/>
          </a:xfrm>
          <a:prstGeom prst="rect">
            <a:avLst/>
          </a:prstGeom>
          <a:solidFill>
            <a:srgbClr val="FFF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728663" y="2194192"/>
            <a:ext cx="1166106" cy="7144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728663" y="1883439"/>
            <a:ext cx="28575" cy="317897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728663" y="1883439"/>
            <a:ext cx="1166106" cy="317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Gradient Boosting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1871718" y="1883439"/>
            <a:ext cx="601554" cy="317897"/>
          </a:xfrm>
          <a:prstGeom prst="rect">
            <a:avLst/>
          </a:prstGeom>
          <a:solidFill>
            <a:srgbClr val="FFF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1871718" y="2194192"/>
            <a:ext cx="601554" cy="7144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1871718" y="1883439"/>
            <a:ext cx="601554" cy="317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0.8358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2473272" y="1883439"/>
            <a:ext cx="518508" cy="317897"/>
          </a:xfrm>
          <a:prstGeom prst="rect">
            <a:avLst/>
          </a:prstGeom>
          <a:solidFill>
            <a:srgbClr val="FFF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2473272" y="2194192"/>
            <a:ext cx="518508" cy="7144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2473272" y="1883439"/>
            <a:ext cx="518508" cy="317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0.6474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2991780" y="1883439"/>
            <a:ext cx="689456" cy="317897"/>
          </a:xfrm>
          <a:prstGeom prst="rect">
            <a:avLst/>
          </a:prstGeom>
          <a:solidFill>
            <a:srgbClr val="FFF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2991780" y="2194192"/>
            <a:ext cx="689456" cy="7144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2991780" y="1883439"/>
            <a:ext cx="689456" cy="317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0.79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3681236" y="1883439"/>
            <a:ext cx="708822" cy="317897"/>
          </a:xfrm>
          <a:prstGeom prst="rect">
            <a:avLst/>
          </a:prstGeom>
          <a:solidFill>
            <a:srgbClr val="FFF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3681236" y="2194192"/>
            <a:ext cx="708822" cy="7144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3681236" y="1883439"/>
            <a:ext cx="708822" cy="317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0.65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4390058" y="1883439"/>
            <a:ext cx="519094" cy="317897"/>
          </a:xfrm>
          <a:prstGeom prst="rect">
            <a:avLst/>
          </a:prstGeom>
          <a:solidFill>
            <a:srgbClr val="FFF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4390058" y="2194192"/>
            <a:ext cx="519094" cy="7144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4390058" y="1883439"/>
            <a:ext cx="519094" cy="317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0.52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4909152" y="1883439"/>
            <a:ext cx="615339" cy="317897"/>
          </a:xfrm>
          <a:prstGeom prst="rect">
            <a:avLst/>
          </a:prstGeom>
          <a:solidFill>
            <a:srgbClr val="FFF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4909152" y="2194192"/>
            <a:ext cx="615339" cy="7144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4909152" y="1883439"/>
            <a:ext cx="615339" cy="317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0.58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714375" y="2197764"/>
            <a:ext cx="1157343" cy="310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1871718" y="2197764"/>
            <a:ext cx="601554" cy="310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0.8307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2473272" y="2197764"/>
            <a:ext cx="518508" cy="310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0.6232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2991780" y="2197764"/>
            <a:ext cx="689456" cy="310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0.79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3681236" y="2197764"/>
            <a:ext cx="708822" cy="310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0.62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4390058" y="2197764"/>
            <a:ext cx="519094" cy="310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0.49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4909152" y="2197764"/>
            <a:ext cx="615339" cy="310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0.55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714375" y="2508517"/>
            <a:ext cx="115734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AdaBoost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1871718" y="2508517"/>
            <a:ext cx="601554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0.8303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2473272" y="2508517"/>
            <a:ext cx="51850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0.6405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2991780" y="2508517"/>
            <a:ext cx="68945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0.79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3681236" y="2508517"/>
            <a:ext cx="70882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0.62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4390058" y="2508517"/>
            <a:ext cx="519094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0.52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4909152" y="2508517"/>
            <a:ext cx="615339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0.56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714375" y="2822842"/>
            <a:ext cx="115734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1871718" y="2822842"/>
            <a:ext cx="601554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0.8143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2473272" y="2822842"/>
            <a:ext cx="51850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0.6159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2991780" y="2822842"/>
            <a:ext cx="68945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0.78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3681236" y="2822842"/>
            <a:ext cx="70882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0.60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4390058" y="2822842"/>
            <a:ext cx="519094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0.48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4909152" y="2822842"/>
            <a:ext cx="615339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0.53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714375" y="3137167"/>
            <a:ext cx="115734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SVC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871718" y="3137167"/>
            <a:ext cx="601554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0.7786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2473272" y="3137167"/>
            <a:ext cx="51850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0.6003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2991780" y="3137167"/>
            <a:ext cx="68945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0.79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3681236" y="3137167"/>
            <a:ext cx="70882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0.65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4390058" y="3137167"/>
            <a:ext cx="519094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0.46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4909152" y="3137167"/>
            <a:ext cx="615339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0.54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714375" y="3451492"/>
            <a:ext cx="115734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KNN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1871718" y="3451492"/>
            <a:ext cx="601554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0.7567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2473272" y="3451492"/>
            <a:ext cx="51850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0.5184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2991780" y="3451492"/>
            <a:ext cx="68945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0.74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3681236" y="3451492"/>
            <a:ext cx="70882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0.51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4390058" y="3451492"/>
            <a:ext cx="519094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0.51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4909152" y="3451492"/>
            <a:ext cx="615339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0.51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714375" y="3765817"/>
            <a:ext cx="1157343" cy="310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Decision Tree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1871718" y="3765817"/>
            <a:ext cx="601554" cy="310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0.6565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2473272" y="3765817"/>
            <a:ext cx="518508" cy="310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0.5605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2991780" y="3765817"/>
            <a:ext cx="689456" cy="310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0.73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3681236" y="3765817"/>
            <a:ext cx="708822" cy="310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0.50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4390058" y="3765817"/>
            <a:ext cx="519094" cy="310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0.50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4909152" y="3765817"/>
            <a:ext cx="615339" cy="310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68050" spcFirstLastPara="1" rIns="68050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0.50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6181716" y="1445884"/>
            <a:ext cx="2390756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Vencedor: Gradient Boosting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6181716" y="1658410"/>
            <a:ext cx="2390756" cy="640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Melhor capacidade de discriminação (ROC-AUC) e robustez em dados desbalanceados (PR-AUC). Apresenta o melhor equilíbrio geral.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6181716" y="2477040"/>
            <a:ext cx="2390756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Baseline Forte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6181716" y="2689566"/>
            <a:ext cx="2390756" cy="640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r>
              <a:rPr b="0" i="0" lang="en-US" sz="834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surpreende com performance muito próxima ao topo (apenas 0.5% abaixo), sendo uma alternativa rápida e interpretável.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6181716" y="3508195"/>
            <a:ext cx="2390756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Desafio de Recall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6181716" y="3720722"/>
            <a:ext cx="2390756" cy="800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Todos os modelos apresentam </a:t>
            </a:r>
            <a:r>
              <a:rPr b="1" i="0" lang="en-US" sz="784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Recall moderado (~0.50)</a:t>
            </a:r>
            <a:r>
              <a:rPr b="0" i="0" lang="en-US" sz="834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. O desbalanceamento de classes (26.5% churn) dificulta a identificação de todos os casos positivos sem ajustes de threshold.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0" name="Google Shape;23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6737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8"/>
          <p:cNvSpPr/>
          <p:nvPr/>
        </p:nvSpPr>
        <p:spPr>
          <a:xfrm>
            <a:off x="571500" y="428625"/>
            <a:ext cx="8001000" cy="83152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571500" y="1231571"/>
            <a:ext cx="8001000" cy="2857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571500" y="428625"/>
            <a:ext cx="7858125" cy="660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58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GridSearch e RandomizedSearch refinam Random Forest, elevando ROC-AUC para 0,8265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571500" y="1517321"/>
            <a:ext cx="4543425" cy="14698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571500" y="1517321"/>
            <a:ext cx="28575" cy="1469827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750094" y="1695915"/>
            <a:ext cx="910996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GridSearch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7" name="Google Shape;23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4881" y="1707524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8"/>
          <p:cNvSpPr/>
          <p:nvPr/>
        </p:nvSpPr>
        <p:spPr>
          <a:xfrm>
            <a:off x="750094" y="1997739"/>
            <a:ext cx="1323966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43.7s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750094" y="2192406"/>
            <a:ext cx="1323966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Tempo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2181216" y="1997739"/>
            <a:ext cx="1323966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2181216" y="2192406"/>
            <a:ext cx="1323966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Fits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3612338" y="1997739"/>
            <a:ext cx="1323966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0.8265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3612338" y="2192406"/>
            <a:ext cx="1323966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ROC-AUC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750094" y="2529948"/>
            <a:ext cx="4186238" cy="278606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750094" y="2529948"/>
            <a:ext cx="4186238" cy="278606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85075" spcFirstLastPara="1" rIns="85075" wrap="square" tIns="85075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n_estimators=100, max_depth=10, min_samples_split=5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571500" y="3201460"/>
            <a:ext cx="4543425" cy="14698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571500" y="3201460"/>
            <a:ext cx="28575" cy="1469827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750094" y="3380054"/>
            <a:ext cx="1539199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RandomizedSearch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9" name="Google Shape;24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4881" y="3391663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8"/>
          <p:cNvSpPr/>
          <p:nvPr/>
        </p:nvSpPr>
        <p:spPr>
          <a:xfrm>
            <a:off x="750094" y="3681878"/>
            <a:ext cx="1323966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140.7s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750094" y="3876545"/>
            <a:ext cx="1323966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Tempo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2181216" y="3681878"/>
            <a:ext cx="1323966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2181216" y="3876545"/>
            <a:ext cx="1323966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Fits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3612338" y="3681878"/>
            <a:ext cx="1323966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~0.826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3612338" y="3876545"/>
            <a:ext cx="1323966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ROC-AUC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750094" y="4214087"/>
            <a:ext cx="4186238" cy="278606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750094" y="4214087"/>
            <a:ext cx="4186238" cy="278606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85075" spcFirstLastPara="1" rIns="85075" wrap="square" tIns="85075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n_estimators=152, max_depth=10, min_samples_split=3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5543550" y="1517321"/>
            <a:ext cx="3028950" cy="1284089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6104530" y="1731634"/>
            <a:ext cx="19069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322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3293"/>
              <a:buFont typeface="Calibri"/>
              <a:buNone/>
            </a:pPr>
            <a:r>
              <a:rPr b="1" i="0" lang="en-US" sz="3293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+1.2 p.p.</a:t>
            </a:r>
            <a:endParaRPr b="0" i="0" sz="32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6237694" y="2260271"/>
            <a:ext cx="1640663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Ganho de Performance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6598593" y="2451367"/>
            <a:ext cx="91883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vs Baseline (0.8143)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5543550" y="3015723"/>
            <a:ext cx="3028950" cy="16991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3" name="Google Shape;263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14988" y="3087160"/>
            <a:ext cx="2886075" cy="1556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9" name="Google Shape;26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23561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9"/>
          <p:cNvSpPr/>
          <p:nvPr/>
        </p:nvSpPr>
        <p:spPr>
          <a:xfrm>
            <a:off x="571500" y="428625"/>
            <a:ext cx="8001000" cy="83152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571500" y="1231571"/>
            <a:ext cx="8001000" cy="2857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571500" y="428625"/>
            <a:ext cx="7858125" cy="660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58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Gradient Boosting é o modelo recomendado para produção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571500" y="1517321"/>
            <a:ext cx="4169327" cy="1614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9"/>
          <p:cNvSpPr/>
          <p:nvPr/>
        </p:nvSpPr>
        <p:spPr>
          <a:xfrm>
            <a:off x="571500" y="1517321"/>
            <a:ext cx="57150" cy="1614488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785813" y="1731634"/>
            <a:ext cx="3740702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Modelo Vencedor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785813" y="1938803"/>
            <a:ext cx="374070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6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8"/>
              <a:buFont typeface="Calibri"/>
              <a:buNone/>
            </a:pPr>
            <a:r>
              <a:rPr b="1" i="0" lang="en-US" sz="180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Gradient Boosting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785813" y="2488871"/>
            <a:ext cx="718951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0.8358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785813" y="2801410"/>
            <a:ext cx="718951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ROC-AUC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1790514" y="2488871"/>
            <a:ext cx="718951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0.6474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1790514" y="2801410"/>
            <a:ext cx="718951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PR-AUC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2795215" y="2488871"/>
            <a:ext cx="457451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0.79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2795215" y="2801410"/>
            <a:ext cx="457451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3" name="Google Shape;28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74696"/>
            <a:ext cx="11251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9"/>
          <p:cNvSpPr/>
          <p:nvPr/>
        </p:nvSpPr>
        <p:spPr>
          <a:xfrm>
            <a:off x="791170" y="3346121"/>
            <a:ext cx="3949657" cy="360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Performance Superior:</a:t>
            </a:r>
            <a:r>
              <a:rPr b="0" i="0" lang="en-US" sz="942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Melhor equilíbrio entre discriminação de classes e generalização.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5" name="Google Shape;28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841886"/>
            <a:ext cx="11251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9"/>
          <p:cNvSpPr/>
          <p:nvPr/>
        </p:nvSpPr>
        <p:spPr>
          <a:xfrm>
            <a:off x="791170" y="3813311"/>
            <a:ext cx="3949657" cy="360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Tuning Efetivo:</a:t>
            </a:r>
            <a:r>
              <a:rPr b="0" i="0" lang="en-US" sz="942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Otimização de hiperparâmetros gerou ganhos reais (+1.2 p.p. no RF).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7" name="Google Shape;287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09077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9"/>
          <p:cNvSpPr/>
          <p:nvPr/>
        </p:nvSpPr>
        <p:spPr>
          <a:xfrm>
            <a:off x="807244" y="4280502"/>
            <a:ext cx="3933583" cy="360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Atenção ao Recall:</a:t>
            </a:r>
            <a:r>
              <a:rPr b="0" i="0" lang="en-US" sz="942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Desbalanceamento limita a sensibilidade (~50%); requer técnicas de sampling.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5098014" y="1517321"/>
            <a:ext cx="1496783" cy="246459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Roteiro de Evolução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5098014" y="1820931"/>
            <a:ext cx="3474458" cy="2893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9"/>
          <p:cNvSpPr/>
          <p:nvPr/>
        </p:nvSpPr>
        <p:spPr>
          <a:xfrm>
            <a:off x="5098014" y="1820931"/>
            <a:ext cx="28575" cy="28932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9"/>
          <p:cNvSpPr/>
          <p:nvPr/>
        </p:nvSpPr>
        <p:spPr>
          <a:xfrm>
            <a:off x="5205171" y="1878081"/>
            <a:ext cx="150716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5463043" y="1887903"/>
            <a:ext cx="1391162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Balanceamento (SMOTE)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5098014" y="2167403"/>
            <a:ext cx="3474458" cy="2893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"/>
          <p:cNvSpPr/>
          <p:nvPr/>
        </p:nvSpPr>
        <p:spPr>
          <a:xfrm>
            <a:off x="5098014" y="2167403"/>
            <a:ext cx="28575" cy="28932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5205171" y="2224553"/>
            <a:ext cx="150716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5463043" y="2234375"/>
            <a:ext cx="1725941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Feature Engineering Temporal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5098014" y="2513874"/>
            <a:ext cx="3474458" cy="2893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5098014" y="2513874"/>
            <a:ext cx="28575" cy="28932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9"/>
          <p:cNvSpPr/>
          <p:nvPr/>
        </p:nvSpPr>
        <p:spPr>
          <a:xfrm>
            <a:off x="5205171" y="2571024"/>
            <a:ext cx="150716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5463043" y="2580847"/>
            <a:ext cx="1073739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Ensemble Stacking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5098014" y="2860346"/>
            <a:ext cx="3474458" cy="2893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9"/>
          <p:cNvSpPr/>
          <p:nvPr/>
        </p:nvSpPr>
        <p:spPr>
          <a:xfrm>
            <a:off x="5098014" y="2860346"/>
            <a:ext cx="28575" cy="28932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9"/>
          <p:cNvSpPr/>
          <p:nvPr/>
        </p:nvSpPr>
        <p:spPr>
          <a:xfrm>
            <a:off x="5205171" y="2917496"/>
            <a:ext cx="150716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5463043" y="2927319"/>
            <a:ext cx="1649006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Calibração de Probabilidades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5098014" y="3249681"/>
            <a:ext cx="3474458" cy="152873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7" name="Google Shape;307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51634" y="3321118"/>
            <a:ext cx="1367191" cy="13715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