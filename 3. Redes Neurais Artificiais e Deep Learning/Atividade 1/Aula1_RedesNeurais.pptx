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Platypi Medium"/>
      <p:regular r:id="rId15"/>
      <p:bold r:id="rId16"/>
      <p:italic r:id="rId17"/>
      <p:boldItalic r:id="rId18"/>
    </p:embeddedFont>
    <p:embeddedFont>
      <p:font typeface="Platypi Light"/>
      <p:regular r:id="rId19"/>
      <p:bold r:id="rId20"/>
      <p:italic r:id="rId21"/>
      <p:boldItalic r:id="rId22"/>
    </p:embeddedFont>
    <p:embeddedFont>
      <p:font typeface="Source Serif 4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typiLight-bold.fntdata"/><Relationship Id="rId22" Type="http://schemas.openxmlformats.org/officeDocument/2006/relationships/font" Target="fonts/PlatypiLight-boldItalic.fntdata"/><Relationship Id="rId21" Type="http://schemas.openxmlformats.org/officeDocument/2006/relationships/font" Target="fonts/PlatypiLight-italic.fntdata"/><Relationship Id="rId24" Type="http://schemas.openxmlformats.org/officeDocument/2006/relationships/font" Target="fonts/SourceSerif4-bold.fntdata"/><Relationship Id="rId23" Type="http://schemas.openxmlformats.org/officeDocument/2006/relationships/font" Target="fonts/SourceSerif4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Serif4-boldItalic.fntdata"/><Relationship Id="rId25" Type="http://schemas.openxmlformats.org/officeDocument/2006/relationships/font" Target="fonts/SourceSerif4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PlatypiMedium-regular.fntdata"/><Relationship Id="rId14" Type="http://schemas.openxmlformats.org/officeDocument/2006/relationships/slide" Target="slides/slide10.xml"/><Relationship Id="rId17" Type="http://schemas.openxmlformats.org/officeDocument/2006/relationships/font" Target="fonts/PlatypiMedium-italic.fntdata"/><Relationship Id="rId16" Type="http://schemas.openxmlformats.org/officeDocument/2006/relationships/font" Target="fonts/PlatypiMedium-bold.fntdata"/><Relationship Id="rId19" Type="http://schemas.openxmlformats.org/officeDocument/2006/relationships/font" Target="fonts/PlatypiLight-regular.fntdata"/><Relationship Id="rId18" Type="http://schemas.openxmlformats.org/officeDocument/2006/relationships/font" Target="fonts/Platypi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Dados para Insights e Melhoria Organizacional</a:t>
            </a:r>
            <a:endParaRPr b="0" i="0" sz="4450" u="none" cap="none" strike="noStrike"/>
          </a:p>
        </p:txBody>
      </p:sp>
      <p:sp>
        <p:nvSpPr>
          <p:cNvPr id="48" name="Google Shape;48;p13"/>
          <p:cNvSpPr/>
          <p:nvPr/>
        </p:nvSpPr>
        <p:spPr>
          <a:xfrm>
            <a:off x="793790" y="5075839"/>
            <a:ext cx="7556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Aluno(a): </a:t>
            </a:r>
            <a:r>
              <a:rPr lang="en-US" sz="17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Deivison S. Takatu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Curso: Redes Neurais Artificiais e Deep Learning 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Data: </a:t>
            </a:r>
            <a:r>
              <a:rPr lang="en-US" sz="17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18/01/2026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793790" y="363616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Objetivo do Estudo</a:t>
            </a:r>
            <a:endParaRPr b="0" i="0" sz="4450" u="none" cap="none" strike="noStrike"/>
          </a:p>
        </p:txBody>
      </p:sp>
      <p:sp>
        <p:nvSpPr>
          <p:cNvPr id="56" name="Google Shape;56;p14"/>
          <p:cNvSpPr/>
          <p:nvPr/>
        </p:nvSpPr>
        <p:spPr>
          <a:xfrm>
            <a:off x="793790" y="5025271"/>
            <a:ext cx="4196358" cy="2403396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793790" y="4994791"/>
            <a:ext cx="4196358" cy="121920"/>
          </a:xfrm>
          <a:prstGeom prst="roundRect">
            <a:avLst>
              <a:gd fmla="val 27907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551688" y="4685109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2755761" y="485525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100" u="none" cap="none" strike="noStrike"/>
          </a:p>
        </p:txBody>
      </p:sp>
      <p:sp>
        <p:nvSpPr>
          <p:cNvPr id="60" name="Google Shape;60;p14"/>
          <p:cNvSpPr/>
          <p:nvPr/>
        </p:nvSpPr>
        <p:spPr>
          <a:xfrm>
            <a:off x="1051084" y="55922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Identificar Padrões</a:t>
            </a:r>
            <a:endParaRPr b="0" i="0" sz="2200" u="none" cap="none" strike="noStrike"/>
          </a:p>
        </p:txBody>
      </p:sp>
      <p:sp>
        <p:nvSpPr>
          <p:cNvPr id="61" name="Google Shape;61;p14"/>
          <p:cNvSpPr/>
          <p:nvPr/>
        </p:nvSpPr>
        <p:spPr>
          <a:xfrm>
            <a:off x="1051084" y="6082665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Relacionados à adaptabilidade dos estudantes em ambientes de aprendizagem online.</a:t>
            </a:r>
            <a:endParaRPr b="0" i="0" sz="1750" u="none" cap="none" strike="noStrike"/>
          </a:p>
        </p:txBody>
      </p:sp>
      <p:sp>
        <p:nvSpPr>
          <p:cNvPr id="62" name="Google Shape;62;p14"/>
          <p:cNvSpPr/>
          <p:nvPr/>
        </p:nvSpPr>
        <p:spPr>
          <a:xfrm>
            <a:off x="5216962" y="5025271"/>
            <a:ext cx="4196358" cy="2403396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5216962" y="4994791"/>
            <a:ext cx="4196358" cy="121920"/>
          </a:xfrm>
          <a:prstGeom prst="roundRect">
            <a:avLst>
              <a:gd fmla="val 27907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974860" y="4685109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178933" y="485525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1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5474256" y="5592247"/>
            <a:ext cx="36817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Gerar Insights Estratégicos</a:t>
            </a:r>
            <a:endParaRPr b="0" i="0" sz="22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5474256" y="6436995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Conhecimento acionável derivado da análise de dados.</a:t>
            </a:r>
            <a:endParaRPr b="0" i="0" sz="17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9640133" y="5025271"/>
            <a:ext cx="4196358" cy="2403396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9640133" y="4994791"/>
            <a:ext cx="4196358" cy="121920"/>
          </a:xfrm>
          <a:prstGeom prst="roundRect">
            <a:avLst>
              <a:gd fmla="val 27907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11398032" y="4685109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1602105" y="485525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1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9897427" y="55922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Propor Melhorias</a:t>
            </a:r>
            <a:endParaRPr b="0" i="0" sz="22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9897427" y="6082665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Melhorias organizacionais baseadas em dados e literatura científica.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793790" y="714256"/>
            <a:ext cx="821043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Contextualizando o Problema</a:t>
            </a:r>
            <a:endParaRPr b="0" i="0" sz="4450" u="none" cap="none" strike="noStrike"/>
          </a:p>
        </p:txBody>
      </p:sp>
      <p:sp>
        <p:nvSpPr>
          <p:cNvPr id="80" name="Google Shape;80;p15"/>
          <p:cNvSpPr/>
          <p:nvPr/>
        </p:nvSpPr>
        <p:spPr>
          <a:xfrm>
            <a:off x="793790" y="1990011"/>
            <a:ext cx="664309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Área Analisada: Educação – Aprendizado Online</a:t>
            </a:r>
            <a:endParaRPr b="0" i="0" sz="220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793790" y="2571155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Apesar da ampla adoção da educação online, muitos estudantes exibem apenas </a:t>
            </a: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FB393"/>
                </a:highlight>
                <a:latin typeface="Source Serif 4"/>
                <a:ea typeface="Source Serif 4"/>
                <a:cs typeface="Source Serif 4"/>
                <a:sym typeface="Source Serif 4"/>
              </a:rPr>
              <a:t>adaptação moderada</a:t>
            </a: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endParaRPr b="0" i="0" sz="1750" u="none" cap="none" strike="noStrike"/>
          </a:p>
        </p:txBody>
      </p:sp>
      <p:sp>
        <p:nvSpPr>
          <p:cNvPr id="82" name="Google Shape;82;p15"/>
          <p:cNvSpPr/>
          <p:nvPr/>
        </p:nvSpPr>
        <p:spPr>
          <a:xfrm>
            <a:off x="793790" y="3501033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Isso compromete:</a:t>
            </a:r>
            <a:endParaRPr b="0" i="0" sz="17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793790" y="4068008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Engajamento</a:t>
            </a:r>
            <a:endParaRPr b="0" i="0" sz="17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793790" y="4510207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Satisfação</a:t>
            </a:r>
            <a:endParaRPr b="0" i="0" sz="17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93790" y="4952405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Retenção no ambiente virtual</a:t>
            </a:r>
            <a:endParaRPr b="0" i="0" sz="17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793790" y="5570458"/>
            <a:ext cx="7604284" cy="1689616"/>
          </a:xfrm>
          <a:prstGeom prst="roundRect">
            <a:avLst>
              <a:gd fmla="val 2014" name="adj"/>
            </a:avLst>
          </a:prstGeom>
          <a:solidFill>
            <a:srgbClr val="EDD5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5914549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1530906" y="5853946"/>
            <a:ext cx="664035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erif 4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Relevância Organizacional: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Baixa adaptação impacta diretamente a efetividade das estratégias educacionais digitais.</a:t>
            </a:r>
            <a:endParaRPr b="0" i="0" sz="1750" u="none" cap="none" strike="noStrike"/>
          </a:p>
        </p:txBody>
      </p:sp>
      <p:pic>
        <p:nvPicPr>
          <p:cNvPr descr="preencoded.png" id="89" name="Google Shape;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9096" y="2018348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1636514" y="493752"/>
            <a:ext cx="6277451" cy="56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 Medium"/>
              <a:buNone/>
            </a:pPr>
            <a:r>
              <a:rPr b="0" i="0" lang="en-US" sz="35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Conjunto de Dados Utilizado</a:t>
            </a:r>
            <a:endParaRPr b="0" i="0" sz="3500" u="none" cap="none" strike="noStrike"/>
          </a:p>
        </p:txBody>
      </p:sp>
      <p:sp>
        <p:nvSpPr>
          <p:cNvPr id="96" name="Google Shape;96;p16"/>
          <p:cNvSpPr/>
          <p:nvPr/>
        </p:nvSpPr>
        <p:spPr>
          <a:xfrm>
            <a:off x="1636514" y="1503640"/>
            <a:ext cx="5459730" cy="56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Nome do Conjunto de Dados: Nível de Adaptabilidade dos Estudantes no Ensino Online</a:t>
            </a:r>
            <a:endParaRPr b="0" i="0" sz="1750" u="none" cap="none" strike="noStrike"/>
          </a:p>
        </p:txBody>
      </p:sp>
      <p:sp>
        <p:nvSpPr>
          <p:cNvPr id="97" name="Google Shape;97;p16"/>
          <p:cNvSpPr/>
          <p:nvPr/>
        </p:nvSpPr>
        <p:spPr>
          <a:xfrm>
            <a:off x="1636514" y="2244209"/>
            <a:ext cx="5459730" cy="574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Source Serif 4"/>
              <a:buNone/>
            </a:pPr>
            <a:r>
              <a:rPr b="1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Origem:</a:t>
            </a:r>
            <a:r>
              <a:rPr b="0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Banco de dados público (Kaggle), garantindo acessibilidade e transparência.</a:t>
            </a:r>
            <a:endParaRPr b="0" i="0" sz="1400" u="none" cap="none" strike="noStrike"/>
          </a:p>
        </p:txBody>
      </p:sp>
      <p:sp>
        <p:nvSpPr>
          <p:cNvPr id="98" name="Google Shape;98;p16"/>
          <p:cNvSpPr/>
          <p:nvPr/>
        </p:nvSpPr>
        <p:spPr>
          <a:xfrm>
            <a:off x="1636514" y="2980134"/>
            <a:ext cx="5459730" cy="2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Source Serif 4"/>
              <a:buNone/>
            </a:pPr>
            <a:r>
              <a:rPr b="1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Registros:</a:t>
            </a:r>
            <a:r>
              <a:rPr b="0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1.205 entradas</a:t>
            </a:r>
            <a:endParaRPr b="0" i="0" sz="1400" u="none" cap="none" strike="noStrike"/>
          </a:p>
        </p:txBody>
      </p:sp>
      <p:sp>
        <p:nvSpPr>
          <p:cNvPr id="99" name="Google Shape;99;p16"/>
          <p:cNvSpPr/>
          <p:nvPr/>
        </p:nvSpPr>
        <p:spPr>
          <a:xfrm>
            <a:off x="1636514" y="3330059"/>
            <a:ext cx="5459730" cy="2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Source Serif 4"/>
              <a:buNone/>
            </a:pPr>
            <a:r>
              <a:rPr b="1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Variáveis:</a:t>
            </a:r>
            <a:r>
              <a:rPr b="0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14 variáveis categóricas</a:t>
            </a:r>
            <a:endParaRPr b="0" i="0" sz="140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1636514" y="3679984"/>
            <a:ext cx="5459730" cy="574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Source Serif 4"/>
              <a:buNone/>
            </a:pPr>
            <a:r>
              <a:rPr b="1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Pontos de Dados:</a:t>
            </a:r>
            <a:r>
              <a:rPr b="0" i="0" lang="en-US" sz="14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Informações sociodemográficas, tecnológicas e educacionais</a:t>
            </a:r>
            <a:endParaRPr b="0" i="0" sz="1400" u="none" cap="none" strike="noStrike"/>
          </a:p>
        </p:txBody>
      </p:sp>
      <p:pic>
        <p:nvPicPr>
          <p:cNvPr descr="preencoded.png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776" y="1526024"/>
            <a:ext cx="5459730" cy="5459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/>
          <p:nvPr/>
        </p:nvSpPr>
        <p:spPr>
          <a:xfrm>
            <a:off x="1636514" y="7457003"/>
            <a:ext cx="6748701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Variável Alvo: Nível de Adaptabilidade (Baixo, Moderado, Alto)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1257895" y="527328"/>
            <a:ext cx="5501402" cy="59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b="0" i="0" lang="en-US" sz="3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Metodologia de Análise</a:t>
            </a:r>
            <a:endParaRPr b="0" i="0" sz="3750" u="none" cap="none" strike="noStrike"/>
          </a:p>
        </p:txBody>
      </p:sp>
      <p:pic>
        <p:nvPicPr>
          <p:cNvPr descr="preencoded.png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895" y="1508879"/>
            <a:ext cx="957620" cy="11491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2406968" y="1700332"/>
            <a:ext cx="4251722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Exploratória de Dados (EDA)</a:t>
            </a:r>
            <a:endParaRPr b="0" i="0" sz="1850" u="none" cap="none" strike="noStrike"/>
          </a:p>
        </p:txBody>
      </p:sp>
      <p:sp>
        <p:nvSpPr>
          <p:cNvPr id="111" name="Google Shape;111;p17"/>
          <p:cNvSpPr/>
          <p:nvPr/>
        </p:nvSpPr>
        <p:spPr>
          <a:xfrm>
            <a:off x="2406968" y="2114431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 descobrir padrões iniciais e anomalias.</a:t>
            </a:r>
            <a:endParaRPr b="0" i="0" sz="1500" u="none" cap="none" strike="noStrike"/>
          </a:p>
        </p:txBody>
      </p:sp>
      <p:pic>
        <p:nvPicPr>
          <p:cNvPr descr="preencoded.png" id="112" name="Google Shape;1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895" y="2658070"/>
            <a:ext cx="957620" cy="11491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2406968" y="2849523"/>
            <a:ext cx="2762012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Estatísticas Descritivas</a:t>
            </a:r>
            <a:endParaRPr b="0" i="0" sz="1850" u="none" cap="none" strike="noStrike"/>
          </a:p>
        </p:txBody>
      </p:sp>
      <p:sp>
        <p:nvSpPr>
          <p:cNvPr id="114" name="Google Shape;114;p17"/>
          <p:cNvSpPr/>
          <p:nvPr/>
        </p:nvSpPr>
        <p:spPr>
          <a:xfrm>
            <a:off x="2406968" y="3263622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Resumo das principais características dos dados.</a:t>
            </a:r>
            <a:endParaRPr b="0" i="0" sz="1500" u="none" cap="none" strike="noStrike"/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7895" y="3807262"/>
            <a:ext cx="957620" cy="11491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2406968" y="3998714"/>
            <a:ext cx="2616279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Visualizações Gráficas</a:t>
            </a:r>
            <a:endParaRPr b="0" i="0" sz="185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2406968" y="4412813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Criação de gráficos para uma interpretação mais clara.</a:t>
            </a:r>
            <a:endParaRPr b="0" i="0" sz="1500" u="none" cap="none" strike="noStrike"/>
          </a:p>
        </p:txBody>
      </p:sp>
      <p:pic>
        <p:nvPicPr>
          <p:cNvPr descr="preencoded.png" id="118" name="Google Shape;1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57895" y="4956453"/>
            <a:ext cx="957620" cy="2223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2406968" y="5147905"/>
            <a:ext cx="335411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Cruzada de Variáveis</a:t>
            </a:r>
            <a:endParaRPr b="0" i="0" sz="185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2406968" y="5562005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Char char="•"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Uso de dispositivos</a:t>
            </a:r>
            <a:endParaRPr b="0" i="0" sz="1500" u="none" cap="none" strike="noStrike"/>
          </a:p>
        </p:txBody>
      </p:sp>
      <p:sp>
        <p:nvSpPr>
          <p:cNvPr id="121" name="Google Shape;121;p17"/>
          <p:cNvSpPr/>
          <p:nvPr/>
        </p:nvSpPr>
        <p:spPr>
          <a:xfrm>
            <a:off x="2406968" y="5935504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Char char="•"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Condição financeira</a:t>
            </a:r>
            <a:endParaRPr b="0" i="0" sz="150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2406968" y="6309003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Char char="•"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Tipo de acesso à internet</a:t>
            </a:r>
            <a:endParaRPr b="0" i="0" sz="150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2406968" y="6682502"/>
            <a:ext cx="10965537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Char char="•"/>
            </a:pP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Nível de adaptabilidade</a:t>
            </a:r>
            <a:endParaRPr b="0" i="0" sz="15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1257895" y="7395805"/>
            <a:ext cx="12114609" cy="3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Objetivo:</a:t>
            </a: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Identificar </a:t>
            </a: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FB393"/>
                </a:highlight>
                <a:latin typeface="Source Serif 4"/>
                <a:ea typeface="Source Serif 4"/>
                <a:cs typeface="Source Serif 4"/>
                <a:sym typeface="Source Serif 4"/>
              </a:rPr>
              <a:t>padrões, tendências e oportunidades</a:t>
            </a:r>
            <a:r>
              <a:rPr b="0" i="0" lang="en-US" sz="150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de melhoria.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793790" y="1232297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Exploratória de Dados: Principais Descobertas</a:t>
            </a:r>
            <a:endParaRPr b="0" i="0" sz="4450" u="none" cap="none" strike="noStrike"/>
          </a:p>
        </p:txBody>
      </p:sp>
      <p:sp>
        <p:nvSpPr>
          <p:cNvPr id="131" name="Google Shape;131;p18"/>
          <p:cNvSpPr/>
          <p:nvPr/>
        </p:nvSpPr>
        <p:spPr>
          <a:xfrm>
            <a:off x="793790" y="3216831"/>
            <a:ext cx="61673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Predominância de Adaptabilidade </a:t>
            </a:r>
            <a:r>
              <a:rPr b="0" i="0" lang="en-US" sz="2200" u="none" cap="none" strike="noStrike">
                <a:solidFill>
                  <a:srgbClr val="421424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Moderada</a:t>
            </a:r>
            <a:endParaRPr b="0" i="0" sz="2200" u="none" cap="none" strike="noStrike"/>
          </a:p>
        </p:txBody>
      </p:sp>
      <p:sp>
        <p:nvSpPr>
          <p:cNvPr id="132" name="Google Shape;132;p18"/>
          <p:cNvSpPr/>
          <p:nvPr/>
        </p:nvSpPr>
        <p:spPr>
          <a:xfrm>
            <a:off x="793790" y="3797975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descoberta mais significativa destaca que a maioria dos estudantes se enquadra na categoria de adaptabilidade moderada.</a:t>
            </a:r>
            <a:endParaRPr b="0" i="0" sz="175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793790" y="5090755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Isso sugere que os estudantes conseguem se engajar no aprendizado online, mas enfrentam desafios que impedem a adaptação completa, sinalizando a necessidade de melhorias institucionais.</a:t>
            </a:r>
            <a:endParaRPr b="0" i="0" sz="1750" u="none" cap="none" strike="noStrike"/>
          </a:p>
        </p:txBody>
      </p:sp>
      <p:pic>
        <p:nvPicPr>
          <p:cNvPr descr="preencoded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3245168"/>
            <a:ext cx="6244709" cy="32396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8697397" y="6515338"/>
            <a:ext cx="226814" cy="226814"/>
          </a:xfrm>
          <a:prstGeom prst="roundRect">
            <a:avLst>
              <a:gd fmla="val 8063" name="adj"/>
            </a:avLst>
          </a:prstGeom>
          <a:solidFill>
            <a:srgbClr val="3B23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8985171" y="6515338"/>
            <a:ext cx="59424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Baixa</a:t>
            </a:r>
            <a:endParaRPr b="0" i="0" sz="175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10036850" y="6515338"/>
            <a:ext cx="226814" cy="226814"/>
          </a:xfrm>
          <a:prstGeom prst="roundRect">
            <a:avLst>
              <a:gd fmla="val 8063" name="adj"/>
            </a:avLst>
          </a:prstGeom>
          <a:solidFill>
            <a:srgbClr val="975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10324624" y="6515338"/>
            <a:ext cx="108204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Moderada</a:t>
            </a:r>
            <a:endParaRPr b="0" i="0" sz="1750" u="none" cap="none" strike="noStrike"/>
          </a:p>
        </p:txBody>
      </p:sp>
      <p:sp>
        <p:nvSpPr>
          <p:cNvPr id="139" name="Google Shape;139;p18"/>
          <p:cNvSpPr/>
          <p:nvPr/>
        </p:nvSpPr>
        <p:spPr>
          <a:xfrm>
            <a:off x="11864221" y="6515338"/>
            <a:ext cx="226814" cy="226814"/>
          </a:xfrm>
          <a:prstGeom prst="roundRect">
            <a:avLst>
              <a:gd fmla="val 8063" name="adj"/>
            </a:avLst>
          </a:prstGeom>
          <a:solidFill>
            <a:srgbClr val="D297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12151995" y="6515338"/>
            <a:ext cx="44005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Alta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793790" y="854988"/>
            <a:ext cx="602468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Padrões Identificados</a:t>
            </a:r>
            <a:endParaRPr b="0" i="0" sz="4450" u="none" cap="none" strike="noStrike"/>
          </a:p>
        </p:txBody>
      </p:sp>
      <p:pic>
        <p:nvPicPr>
          <p:cNvPr descr="preencoded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017395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793790" y="4814411"/>
            <a:ext cx="37759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Uso de Dispositivos Móveis</a:t>
            </a:r>
            <a:endParaRPr b="0" i="0" sz="220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793790" y="5304830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Uso predominante de smartphones para acessar conteúdo online.</a:t>
            </a:r>
            <a:endParaRPr b="0" i="0" sz="1750" u="none" cap="none" strike="noStrike"/>
          </a:p>
        </p:txBody>
      </p:sp>
      <p:pic>
        <p:nvPicPr>
          <p:cNvPr descr="preencoded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2017395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5235893" y="4814411"/>
            <a:ext cx="345459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Acesso via Dados Móveis</a:t>
            </a:r>
            <a:endParaRPr b="0" i="0" sz="220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5235893" y="5304830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maioria dos estudantes depende de dados móveis para conectividade à internet.</a:t>
            </a:r>
            <a:endParaRPr b="0" i="0" sz="1750" u="none" cap="none" strike="noStrike"/>
          </a:p>
        </p:txBody>
      </p:sp>
      <p:pic>
        <p:nvPicPr>
          <p:cNvPr descr="preencoded.png" id="153" name="Google Shape;15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2017395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9677995" y="48144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Menor Adaptação</a:t>
            </a:r>
            <a:endParaRPr b="0" i="0" sz="220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9677995" y="5304830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Associado a limitações tecnológicas e status financeiro médio/baixo.</a:t>
            </a:r>
            <a:endParaRPr b="0" i="0" sz="1750" u="none" cap="none" strike="noStrike"/>
          </a:p>
        </p:txBody>
      </p:sp>
      <p:sp>
        <p:nvSpPr>
          <p:cNvPr id="156" name="Google Shape;156;p19"/>
          <p:cNvSpPr/>
          <p:nvPr/>
        </p:nvSpPr>
        <p:spPr>
          <a:xfrm>
            <a:off x="793790" y="664868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Esses padrões destacam os diversos desafios que os estudantes enfrentam, sugerindo a necessidade de respostas institucionais personalizadas.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690324" y="1007507"/>
            <a:ext cx="6703933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850"/>
              <a:buFont typeface="Platypi Medium"/>
              <a:buNone/>
            </a:pPr>
            <a:r>
              <a:rPr b="0" i="0" lang="en-US" sz="38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Gerando Principais Insights</a:t>
            </a:r>
            <a:endParaRPr b="0" i="0" sz="3850" u="none" cap="none" strike="noStrike"/>
          </a:p>
        </p:txBody>
      </p:sp>
      <p:sp>
        <p:nvSpPr>
          <p:cNvPr id="164" name="Google Shape;164;p20"/>
          <p:cNvSpPr/>
          <p:nvPr/>
        </p:nvSpPr>
        <p:spPr>
          <a:xfrm>
            <a:off x="690324" y="1919645"/>
            <a:ext cx="3783092" cy="2864525"/>
          </a:xfrm>
          <a:prstGeom prst="roundRect">
            <a:avLst>
              <a:gd fmla="val 103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887492" y="2116812"/>
            <a:ext cx="591622" cy="591622"/>
          </a:xfrm>
          <a:prstGeom prst="roundRect">
            <a:avLst>
              <a:gd fmla="val 15454269" name="adj"/>
            </a:avLst>
          </a:prstGeom>
          <a:solidFill>
            <a:srgbClr val="FFB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131" y="2279452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887492" y="2905601"/>
            <a:ext cx="3372088" cy="308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Insight 1: Ação Institucional</a:t>
            </a:r>
            <a:endParaRPr b="0" i="0" sz="1900" u="none" cap="none" strike="noStrike"/>
          </a:p>
        </p:txBody>
      </p:sp>
      <p:sp>
        <p:nvSpPr>
          <p:cNvPr id="168" name="Google Shape;168;p20"/>
          <p:cNvSpPr/>
          <p:nvPr/>
        </p:nvSpPr>
        <p:spPr>
          <a:xfrm>
            <a:off x="887492" y="3331964"/>
            <a:ext cx="3388757" cy="946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Source Serif 4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adaptação moderada exige intervenções institucionais estruturadas.</a:t>
            </a:r>
            <a:endParaRPr b="0" i="0" sz="1550" u="none" cap="none" strike="noStrike"/>
          </a:p>
        </p:txBody>
      </p:sp>
      <p:sp>
        <p:nvSpPr>
          <p:cNvPr id="169" name="Google Shape;169;p20"/>
          <p:cNvSpPr/>
          <p:nvPr/>
        </p:nvSpPr>
        <p:spPr>
          <a:xfrm>
            <a:off x="4670584" y="1919645"/>
            <a:ext cx="3783092" cy="2864525"/>
          </a:xfrm>
          <a:prstGeom prst="roundRect">
            <a:avLst>
              <a:gd fmla="val 103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4867751" y="2116812"/>
            <a:ext cx="591622" cy="591622"/>
          </a:xfrm>
          <a:prstGeom prst="roundRect">
            <a:avLst>
              <a:gd fmla="val 15454269" name="adj"/>
            </a:avLst>
          </a:prstGeom>
          <a:solidFill>
            <a:srgbClr val="FFB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391" y="2279452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4867751" y="2905601"/>
            <a:ext cx="3388757" cy="616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Insight 2: Design Mobile-First</a:t>
            </a:r>
            <a:endParaRPr b="0" i="0" sz="190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4867751" y="3640098"/>
            <a:ext cx="3388757" cy="946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Source Serif 4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uso intensivo de smartphones exige plataformas educacionais mobile-first.</a:t>
            </a:r>
            <a:endParaRPr b="0" i="0" sz="1550" u="none" cap="none" strike="noStrike"/>
          </a:p>
        </p:txBody>
      </p:sp>
      <p:sp>
        <p:nvSpPr>
          <p:cNvPr id="174" name="Google Shape;174;p20"/>
          <p:cNvSpPr/>
          <p:nvPr/>
        </p:nvSpPr>
        <p:spPr>
          <a:xfrm>
            <a:off x="690324" y="4981337"/>
            <a:ext cx="7763351" cy="2240756"/>
          </a:xfrm>
          <a:prstGeom prst="roundRect">
            <a:avLst>
              <a:gd fmla="val 1320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887492" y="5178504"/>
            <a:ext cx="591622" cy="591622"/>
          </a:xfrm>
          <a:prstGeom prst="roundRect">
            <a:avLst>
              <a:gd fmla="val 15454269" name="adj"/>
            </a:avLst>
          </a:prstGeom>
          <a:solidFill>
            <a:srgbClr val="FFB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131" y="5341144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887492" y="5967293"/>
            <a:ext cx="4454366" cy="308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Insight 3: Influência Socioeconômica</a:t>
            </a:r>
            <a:endParaRPr b="0" i="0" sz="190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887492" y="6393656"/>
            <a:ext cx="7369016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Source Serif 4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Fatores socioeconômicos e o suporte institucional impactam diretamente a adaptação.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/>
          <p:nvPr/>
        </p:nvSpPr>
        <p:spPr>
          <a:xfrm>
            <a:off x="740331" y="756523"/>
            <a:ext cx="7663339" cy="132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150"/>
              <a:buFont typeface="Platypi Medium"/>
              <a:buNone/>
            </a:pPr>
            <a:r>
              <a:rPr b="0" i="0" lang="en-US" sz="41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Propostas de Melhoria Organizacional</a:t>
            </a:r>
            <a:endParaRPr b="0" i="0" sz="4150" u="none" cap="none" strike="noStrike"/>
          </a:p>
        </p:txBody>
      </p:sp>
      <p:sp>
        <p:nvSpPr>
          <p:cNvPr id="186" name="Google Shape;186;p21"/>
          <p:cNvSpPr/>
          <p:nvPr/>
        </p:nvSpPr>
        <p:spPr>
          <a:xfrm>
            <a:off x="740322" y="2395900"/>
            <a:ext cx="333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01</a:t>
            </a:r>
            <a:endParaRPr b="0" i="0" sz="1650" u="none" cap="none" strike="noStrike"/>
          </a:p>
        </p:txBody>
      </p:sp>
      <p:sp>
        <p:nvSpPr>
          <p:cNvPr id="187" name="Google Shape;187;p21"/>
          <p:cNvSpPr/>
          <p:nvPr/>
        </p:nvSpPr>
        <p:spPr>
          <a:xfrm>
            <a:off x="740331" y="2732484"/>
            <a:ext cx="3725942" cy="2286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740331" y="2883932"/>
            <a:ext cx="2821424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Otimizar Plataformas</a:t>
            </a:r>
            <a:endParaRPr b="0" i="0" sz="2050" u="none" cap="none" strike="noStrike"/>
          </a:p>
        </p:txBody>
      </p:sp>
      <p:sp>
        <p:nvSpPr>
          <p:cNvPr id="189" name="Google Shape;189;p21"/>
          <p:cNvSpPr/>
          <p:nvPr/>
        </p:nvSpPr>
        <p:spPr>
          <a:xfrm>
            <a:off x="740331" y="3341370"/>
            <a:ext cx="3725942" cy="101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Garantir que as plataformas educacionais sejam totalmente otimizadas para dispositivos móveis.</a:t>
            </a:r>
            <a:endParaRPr b="0" i="0" sz="1650" u="none" cap="none" strike="noStrike"/>
          </a:p>
        </p:txBody>
      </p:sp>
      <p:sp>
        <p:nvSpPr>
          <p:cNvPr id="190" name="Google Shape;190;p21"/>
          <p:cNvSpPr/>
          <p:nvPr/>
        </p:nvSpPr>
        <p:spPr>
          <a:xfrm>
            <a:off x="4677720" y="2395900"/>
            <a:ext cx="5535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02</a:t>
            </a:r>
            <a:endParaRPr b="0" i="0" sz="1650" u="none" cap="none" strike="noStrike"/>
          </a:p>
        </p:txBody>
      </p:sp>
      <p:sp>
        <p:nvSpPr>
          <p:cNvPr id="191" name="Google Shape;191;p21"/>
          <p:cNvSpPr/>
          <p:nvPr/>
        </p:nvSpPr>
        <p:spPr>
          <a:xfrm>
            <a:off x="4677728" y="2732484"/>
            <a:ext cx="3725942" cy="2286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677728" y="2883932"/>
            <a:ext cx="3631763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Treinamento de Professores</a:t>
            </a:r>
            <a:endParaRPr b="0" i="0" sz="2050" u="none" cap="none" strike="noStrike"/>
          </a:p>
        </p:txBody>
      </p:sp>
      <p:sp>
        <p:nvSpPr>
          <p:cNvPr id="193" name="Google Shape;193;p21"/>
          <p:cNvSpPr/>
          <p:nvPr/>
        </p:nvSpPr>
        <p:spPr>
          <a:xfrm>
            <a:off x="4677728" y="3341370"/>
            <a:ext cx="3725942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Capacitação do corpo docente em metodologias e ferramentas digitais.</a:t>
            </a:r>
            <a:endParaRPr b="0" i="0" sz="165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740311" y="4726900"/>
            <a:ext cx="711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03</a:t>
            </a:r>
            <a:endParaRPr b="0" i="0" sz="1650" u="none" cap="none" strike="noStrike"/>
          </a:p>
        </p:txBody>
      </p:sp>
      <p:sp>
        <p:nvSpPr>
          <p:cNvPr id="195" name="Google Shape;195;p21"/>
          <p:cNvSpPr/>
          <p:nvPr/>
        </p:nvSpPr>
        <p:spPr>
          <a:xfrm>
            <a:off x="740331" y="5063490"/>
            <a:ext cx="7663339" cy="2286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740331" y="5214938"/>
            <a:ext cx="2644259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Expandir Suporte</a:t>
            </a:r>
            <a:endParaRPr b="0" i="0" sz="2050" u="none" cap="none" strike="noStrike"/>
          </a:p>
        </p:txBody>
      </p:sp>
      <p:sp>
        <p:nvSpPr>
          <p:cNvPr id="197" name="Google Shape;197;p21"/>
          <p:cNvSpPr/>
          <p:nvPr/>
        </p:nvSpPr>
        <p:spPr>
          <a:xfrm>
            <a:off x="740331" y="5672376"/>
            <a:ext cx="7663339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Aumentar o suporte técnico e pedagógico institucional aos alunos.</a:t>
            </a:r>
            <a:endParaRPr b="0" i="0" sz="165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740331" y="6486763"/>
            <a:ext cx="2644259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050"/>
              <a:buFont typeface="Platypi Medium"/>
              <a:buNone/>
            </a:pPr>
            <a:r>
              <a:rPr b="0" i="0" lang="en-US" sz="20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Benefício Esperado:</a:t>
            </a:r>
            <a:endParaRPr b="0" i="0" sz="2050" u="none" cap="none" strike="noStrike"/>
          </a:p>
        </p:txBody>
      </p:sp>
      <p:sp>
        <p:nvSpPr>
          <p:cNvPr id="199" name="Google Shape;199;p21"/>
          <p:cNvSpPr/>
          <p:nvPr/>
        </p:nvSpPr>
        <p:spPr>
          <a:xfrm>
            <a:off x="740331" y="7134582"/>
            <a:ext cx="7663339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Maior adaptação, satisfação e retenção de alunos na educação online.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/>
          <p:nvPr/>
        </p:nvSpPr>
        <p:spPr>
          <a:xfrm>
            <a:off x="1790700" y="481013"/>
            <a:ext cx="7156371" cy="5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400"/>
              <a:buFont typeface="Platypi Medium"/>
              <a:buNone/>
            </a:pPr>
            <a:r>
              <a:rPr b="0" i="0" lang="en-US" sz="34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Base Científica, Ética e Conclusão</a:t>
            </a:r>
            <a:endParaRPr b="0" i="0" sz="3400" u="none" cap="none" strike="noStrike"/>
          </a:p>
        </p:txBody>
      </p:sp>
      <p:sp>
        <p:nvSpPr>
          <p:cNvPr id="206" name="Google Shape;206;p22"/>
          <p:cNvSpPr/>
          <p:nvPr/>
        </p:nvSpPr>
        <p:spPr>
          <a:xfrm>
            <a:off x="1790700" y="1463516"/>
            <a:ext cx="2870597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Fundamentação Científica:</a:t>
            </a:r>
            <a:endParaRPr b="0" i="0" sz="1700" u="none" cap="none" strike="noStrike"/>
          </a:p>
        </p:txBody>
      </p:sp>
      <p:sp>
        <p:nvSpPr>
          <p:cNvPr id="207" name="Google Shape;207;p22"/>
          <p:cNvSpPr/>
          <p:nvPr/>
        </p:nvSpPr>
        <p:spPr>
          <a:xfrm>
            <a:off x="1790700" y="1911072"/>
            <a:ext cx="5311378" cy="558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Source Serif 4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Joo, Lim, &amp; Kim (2011): satisfação e persistência na aprendizagem online.</a:t>
            </a:r>
            <a:endParaRPr b="0" i="0" sz="1350" u="none" cap="none" strike="noStrike"/>
          </a:p>
        </p:txBody>
      </p:sp>
      <p:sp>
        <p:nvSpPr>
          <p:cNvPr id="208" name="Google Shape;208;p22"/>
          <p:cNvSpPr/>
          <p:nvPr/>
        </p:nvSpPr>
        <p:spPr>
          <a:xfrm>
            <a:off x="1790700" y="2531031"/>
            <a:ext cx="5311378" cy="558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Source Serif 4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Alharbi &amp; Drew (2014): aceitação tecnológica e preparação docente.</a:t>
            </a:r>
            <a:endParaRPr b="0" i="0" sz="1350" u="none" cap="none" strike="noStrike"/>
          </a:p>
        </p:txBody>
      </p:sp>
      <p:sp>
        <p:nvSpPr>
          <p:cNvPr id="209" name="Google Shape;209;p22"/>
          <p:cNvSpPr/>
          <p:nvPr/>
        </p:nvSpPr>
        <p:spPr>
          <a:xfrm>
            <a:off x="1790700" y="3150989"/>
            <a:ext cx="5311378" cy="558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Source Serif 4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 et al. (2023): adaptabilidade, satisfação e uso contínuo (ASL-TAM).</a:t>
            </a:r>
            <a:endParaRPr b="0" i="0" sz="1350" u="none" cap="none" strike="noStrike"/>
          </a:p>
        </p:txBody>
      </p:sp>
      <p:sp>
        <p:nvSpPr>
          <p:cNvPr id="210" name="Google Shape;210;p22"/>
          <p:cNvSpPr/>
          <p:nvPr/>
        </p:nvSpPr>
        <p:spPr>
          <a:xfrm>
            <a:off x="1790700" y="3884533"/>
            <a:ext cx="2321957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Considerações Éticas:</a:t>
            </a:r>
            <a:endParaRPr b="0" i="0" sz="1700" u="none" cap="none" strike="noStrike"/>
          </a:p>
        </p:txBody>
      </p:sp>
      <p:sp>
        <p:nvSpPr>
          <p:cNvPr id="211" name="Google Shape;211;p22"/>
          <p:cNvSpPr/>
          <p:nvPr/>
        </p:nvSpPr>
        <p:spPr>
          <a:xfrm>
            <a:off x="1790700" y="4332089"/>
            <a:ext cx="5311378" cy="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Source Serif 4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Dados públicos e anonimizados.</a:t>
            </a:r>
            <a:endParaRPr b="0" i="0" sz="1350" u="none" cap="none" strike="noStrike"/>
          </a:p>
        </p:txBody>
      </p:sp>
      <p:sp>
        <p:nvSpPr>
          <p:cNvPr id="212" name="Google Shape;212;p22"/>
          <p:cNvSpPr/>
          <p:nvPr/>
        </p:nvSpPr>
        <p:spPr>
          <a:xfrm>
            <a:off x="1790700" y="4672608"/>
            <a:ext cx="5311378" cy="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Source Serif 4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Conformidade com a LGPD (Lei Geral de Proteção de Dados).</a:t>
            </a:r>
            <a:endParaRPr b="0" i="0" sz="1350" u="none" cap="none" strike="noStrike"/>
          </a:p>
        </p:txBody>
      </p:sp>
      <p:pic>
        <p:nvPicPr>
          <p:cNvPr descr="preencoded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5704" y="1485305"/>
            <a:ext cx="5311378" cy="531137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790700" y="7189589"/>
            <a:ext cx="11048881" cy="558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Source Serif 4"/>
              <a:buNone/>
            </a:pPr>
            <a:r>
              <a:rPr b="1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Conclusão: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Análise baseada em dados e evidências científicas confirmam que melhorias tecnológicas, pedagógicas e institucionais são cruciais para o sucesso da educação online.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